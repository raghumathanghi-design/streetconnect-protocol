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ton" pitchFamily="2" charset="0"/>
      <p:regular r:id="rId8"/>
    </p:embeddedFont>
    <p:embeddedFont>
      <p:font typeface="Arimo" panose="020B0604020202020204" charset="0"/>
      <p:regular r:id="rId9"/>
    </p:embeddedFon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82972" cy="10396672"/>
          </a:xfrm>
          <a:custGeom>
            <a:avLst/>
            <a:gdLst/>
            <a:ahLst/>
            <a:cxnLst/>
            <a:rect l="l" t="t" r="r" b="b"/>
            <a:pathLst>
              <a:path w="18482972" h="10396672">
                <a:moveTo>
                  <a:pt x="0" y="0"/>
                </a:moveTo>
                <a:lnTo>
                  <a:pt x="18482972" y="0"/>
                </a:lnTo>
                <a:lnTo>
                  <a:pt x="18482972" y="10396672"/>
                </a:lnTo>
                <a:lnTo>
                  <a:pt x="0" y="10396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274" y="0"/>
            <a:ext cx="18516549" cy="2199027"/>
          </a:xfrm>
          <a:custGeom>
            <a:avLst/>
            <a:gdLst/>
            <a:ahLst/>
            <a:cxnLst/>
            <a:rect l="l" t="t" r="r" b="b"/>
            <a:pathLst>
              <a:path w="18516549" h="2199027">
                <a:moveTo>
                  <a:pt x="0" y="0"/>
                </a:moveTo>
                <a:lnTo>
                  <a:pt x="18516548" y="0"/>
                </a:lnTo>
                <a:lnTo>
                  <a:pt x="18516548" y="2199027"/>
                </a:lnTo>
                <a:lnTo>
                  <a:pt x="0" y="21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69061" y="6274444"/>
            <a:ext cx="5435923" cy="3759115"/>
          </a:xfrm>
          <a:custGeom>
            <a:avLst/>
            <a:gdLst/>
            <a:ahLst/>
            <a:cxnLst/>
            <a:rect l="l" t="t" r="r" b="b"/>
            <a:pathLst>
              <a:path w="5435923" h="3759115">
                <a:moveTo>
                  <a:pt x="0" y="0"/>
                </a:moveTo>
                <a:lnTo>
                  <a:pt x="5435923" y="0"/>
                </a:lnTo>
                <a:lnTo>
                  <a:pt x="5435923" y="3759114"/>
                </a:lnTo>
                <a:lnTo>
                  <a:pt x="0" y="3759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934" b="-4877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69061" y="2788844"/>
            <a:ext cx="5435923" cy="3252861"/>
          </a:xfrm>
          <a:custGeom>
            <a:avLst/>
            <a:gdLst/>
            <a:ahLst/>
            <a:cxnLst/>
            <a:rect l="l" t="t" r="r" b="b"/>
            <a:pathLst>
              <a:path w="5435923" h="3252861">
                <a:moveTo>
                  <a:pt x="0" y="0"/>
                </a:moveTo>
                <a:lnTo>
                  <a:pt x="5435923" y="0"/>
                </a:lnTo>
                <a:lnTo>
                  <a:pt x="5435923" y="3252861"/>
                </a:lnTo>
                <a:lnTo>
                  <a:pt x="0" y="3252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904" r="-26494" b="-890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3624" y="2147781"/>
            <a:ext cx="11537798" cy="77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sz="3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Homeless individuals lack a safe, smartphone-free way to request immediate assistance, while donors lack a reliable, location-based system to identify genuine needs. This disconnect leads to unsafe begging and inefficient charity. </a:t>
            </a:r>
          </a:p>
          <a:p>
            <a:pPr algn="l">
              <a:lnSpc>
                <a:spcPts val="4407"/>
              </a:lnSpc>
              <a:spcBef>
                <a:spcPct val="0"/>
              </a:spcBef>
            </a:pPr>
            <a:endParaRPr lang="en-US" sz="314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79738" lvl="1" indent="-339869" algn="l">
              <a:lnSpc>
                <a:spcPts val="4407"/>
              </a:lnSpc>
              <a:buAutoNum type="arabicPeriod"/>
            </a:pPr>
            <a:r>
              <a:rPr lang="en-US" sz="3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a low-cost, public street button that requires zero digital literacy. </a:t>
            </a:r>
          </a:p>
          <a:p>
            <a:pPr marL="679738" lvl="1" indent="-339869" algn="l">
              <a:lnSpc>
                <a:spcPts val="4407"/>
              </a:lnSpc>
              <a:buAutoNum type="arabicPeriod"/>
            </a:pPr>
            <a:r>
              <a:rPr lang="en-US" sz="3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 a cloud system to capture location, timestamp, and a basic privacy-masked image. </a:t>
            </a:r>
          </a:p>
          <a:p>
            <a:pPr marL="679738" lvl="1" indent="-339869" algn="l">
              <a:lnSpc>
                <a:spcPts val="4407"/>
              </a:lnSpc>
              <a:buAutoNum type="arabicPeriod"/>
            </a:pPr>
            <a:r>
              <a:rPr lang="en-US" sz="3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a donor dashboard to display real-time, proximity-based alerts. </a:t>
            </a:r>
          </a:p>
          <a:p>
            <a:pPr marL="679738" lvl="1" indent="-339869" algn="l">
              <a:lnSpc>
                <a:spcPts val="4407"/>
              </a:lnSpc>
              <a:buAutoNum type="arabicPeriod"/>
            </a:pPr>
            <a:r>
              <a:rPr lang="en-US" sz="3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 system safety by preventing spam and respecting user privacy.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50122" y="732607"/>
            <a:ext cx="12037878" cy="10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694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 &amp;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274" y="0"/>
            <a:ext cx="18516549" cy="2199027"/>
          </a:xfrm>
          <a:custGeom>
            <a:avLst/>
            <a:gdLst/>
            <a:ahLst/>
            <a:cxnLst/>
            <a:rect l="l" t="t" r="r" b="b"/>
            <a:pathLst>
              <a:path w="18516549" h="2199027">
                <a:moveTo>
                  <a:pt x="0" y="0"/>
                </a:moveTo>
                <a:lnTo>
                  <a:pt x="18516548" y="0"/>
                </a:lnTo>
                <a:lnTo>
                  <a:pt x="18516548" y="2199027"/>
                </a:lnTo>
                <a:lnTo>
                  <a:pt x="0" y="21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155" y="7180671"/>
            <a:ext cx="6212657" cy="6212657"/>
          </a:xfrm>
          <a:custGeom>
            <a:avLst/>
            <a:gdLst/>
            <a:ahLst/>
            <a:cxnLst/>
            <a:rect l="l" t="t" r="r" b="b"/>
            <a:pathLst>
              <a:path w="6212657" h="6212657">
                <a:moveTo>
                  <a:pt x="0" y="0"/>
                </a:moveTo>
                <a:lnTo>
                  <a:pt x="6212657" y="0"/>
                </a:lnTo>
                <a:lnTo>
                  <a:pt x="6212657" y="6212658"/>
                </a:lnTo>
                <a:lnTo>
                  <a:pt x="0" y="6212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16495" y="7232954"/>
            <a:ext cx="3054046" cy="3054046"/>
            <a:chOff x="0" y="0"/>
            <a:chExt cx="4072061" cy="4072061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24378" r="24378"/>
            <a:stretch>
              <a:fillRect/>
            </a:stretch>
          </p:blipFill>
          <p:spPr>
            <a:xfrm>
              <a:off x="0" y="0"/>
              <a:ext cx="4072061" cy="4072061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3638452" y="7232954"/>
            <a:ext cx="3054046" cy="3054046"/>
            <a:chOff x="0" y="0"/>
            <a:chExt cx="4072061" cy="407206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/>
            <a:srcRect t="12852" b="12852"/>
            <a:stretch>
              <a:fillRect/>
            </a:stretch>
          </p:blipFill>
          <p:spPr>
            <a:xfrm>
              <a:off x="0" y="0"/>
              <a:ext cx="4072061" cy="4072061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6963785" y="7232954"/>
            <a:ext cx="3573095" cy="3054046"/>
            <a:chOff x="0" y="0"/>
            <a:chExt cx="4764127" cy="407206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/>
            <a:srcRect l="20385" r="20385"/>
            <a:stretch>
              <a:fillRect/>
            </a:stretch>
          </p:blipFill>
          <p:spPr>
            <a:xfrm>
              <a:off x="0" y="0"/>
              <a:ext cx="4764127" cy="4072061"/>
            </a:xfrm>
            <a:prstGeom prst="rect">
              <a:avLst/>
            </a:prstGeom>
          </p:spPr>
        </p:pic>
      </p:grpSp>
      <p:sp>
        <p:nvSpPr>
          <p:cNvPr id="10" name="Freeform 10"/>
          <p:cNvSpPr/>
          <p:nvPr/>
        </p:nvSpPr>
        <p:spPr>
          <a:xfrm>
            <a:off x="10808166" y="7232954"/>
            <a:ext cx="7104292" cy="3054046"/>
          </a:xfrm>
          <a:custGeom>
            <a:avLst/>
            <a:gdLst/>
            <a:ahLst/>
            <a:cxnLst/>
            <a:rect l="l" t="t" r="r" b="b"/>
            <a:pathLst>
              <a:path w="7104292" h="3054046">
                <a:moveTo>
                  <a:pt x="0" y="0"/>
                </a:moveTo>
                <a:lnTo>
                  <a:pt x="7104292" y="0"/>
                </a:lnTo>
                <a:lnTo>
                  <a:pt x="7104292" y="3054046"/>
                </a:lnTo>
                <a:lnTo>
                  <a:pt x="0" y="30540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98" r="-1738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937066" y="517370"/>
            <a:ext cx="6790039" cy="136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40"/>
              </a:lnSpc>
            </a:pPr>
            <a:r>
              <a:rPr lang="en-US" sz="888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METHODOLOGY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6495" y="2498808"/>
            <a:ext cx="17410610" cy="503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Setup: </a:t>
            </a:r>
            <a:r>
              <a:rPr lang="en-US" sz="320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Wired an ESP32-CAM module with a push-button and LED status indicator on a breadboard to act as the street device.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Firmware &amp; Backend:</a:t>
            </a:r>
            <a:r>
              <a:rPr lang="en-US" sz="320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 Programmed the ESP32 in Arduino IDE to capture images upon a button press and send a JSON payload via Wi-Fi to a Firebase Realtime Database.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Development: </a:t>
            </a:r>
            <a:r>
              <a:rPr lang="en-US" sz="320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Developed a web-based donor dashboard that listens to Firebase to display incoming alerts on a map.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Geofenced Alert Filtering</a:t>
            </a:r>
            <a:r>
              <a:rPr lang="en-US" sz="3200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: Implemented a proximity algorithm to ensure notifications are only routed to donors within the immediate neighborhood radius.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1F202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274" y="0"/>
            <a:ext cx="18516549" cy="2199027"/>
          </a:xfrm>
          <a:custGeom>
            <a:avLst/>
            <a:gdLst/>
            <a:ahLst/>
            <a:cxnLst/>
            <a:rect l="l" t="t" r="r" b="b"/>
            <a:pathLst>
              <a:path w="18516549" h="2199027">
                <a:moveTo>
                  <a:pt x="0" y="0"/>
                </a:moveTo>
                <a:lnTo>
                  <a:pt x="18516548" y="0"/>
                </a:lnTo>
                <a:lnTo>
                  <a:pt x="18516548" y="2199027"/>
                </a:lnTo>
                <a:lnTo>
                  <a:pt x="0" y="21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2139" y="2199027"/>
            <a:ext cx="14843723" cy="8097927"/>
          </a:xfrm>
          <a:custGeom>
            <a:avLst/>
            <a:gdLst/>
            <a:ahLst/>
            <a:cxnLst/>
            <a:rect l="l" t="t" r="r" b="b"/>
            <a:pathLst>
              <a:path w="14843723" h="8097927">
                <a:moveTo>
                  <a:pt x="0" y="0"/>
                </a:moveTo>
                <a:lnTo>
                  <a:pt x="14843722" y="0"/>
                </a:lnTo>
                <a:lnTo>
                  <a:pt x="14843722" y="8097927"/>
                </a:lnTo>
                <a:lnTo>
                  <a:pt x="0" y="8097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98320" y="7681040"/>
            <a:ext cx="6590938" cy="2790105"/>
          </a:xfrm>
          <a:custGeom>
            <a:avLst/>
            <a:gdLst/>
            <a:ahLst/>
            <a:cxnLst/>
            <a:rect l="l" t="t" r="r" b="b"/>
            <a:pathLst>
              <a:path w="6590938" h="2790105">
                <a:moveTo>
                  <a:pt x="0" y="0"/>
                </a:moveTo>
                <a:lnTo>
                  <a:pt x="6590938" y="0"/>
                </a:lnTo>
                <a:lnTo>
                  <a:pt x="6590938" y="2790105"/>
                </a:lnTo>
                <a:lnTo>
                  <a:pt x="0" y="279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126" t="-20224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601200" y="415466"/>
            <a:ext cx="7658100" cy="1358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0"/>
              </a:lnSpc>
              <a:spcBef>
                <a:spcPct val="0"/>
              </a:spcBef>
            </a:pPr>
            <a:r>
              <a:rPr lang="en-US" sz="8885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BLOCK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274" y="0"/>
            <a:ext cx="18516549" cy="2199027"/>
          </a:xfrm>
          <a:custGeom>
            <a:avLst/>
            <a:gdLst/>
            <a:ahLst/>
            <a:cxnLst/>
            <a:rect l="l" t="t" r="r" b="b"/>
            <a:pathLst>
              <a:path w="18516549" h="2199027">
                <a:moveTo>
                  <a:pt x="0" y="0"/>
                </a:moveTo>
                <a:lnTo>
                  <a:pt x="18516548" y="0"/>
                </a:lnTo>
                <a:lnTo>
                  <a:pt x="18516548" y="2199027"/>
                </a:lnTo>
                <a:lnTo>
                  <a:pt x="0" y="21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2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2519" y="2550184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9" y="0"/>
                </a:lnTo>
                <a:lnTo>
                  <a:pt x="113012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05310" y="6009651"/>
            <a:ext cx="5753985" cy="2967662"/>
          </a:xfrm>
          <a:custGeom>
            <a:avLst/>
            <a:gdLst/>
            <a:ahLst/>
            <a:cxnLst/>
            <a:rect l="l" t="t" r="r" b="b"/>
            <a:pathLst>
              <a:path w="5753985" h="2967662">
                <a:moveTo>
                  <a:pt x="0" y="0"/>
                </a:moveTo>
                <a:lnTo>
                  <a:pt x="5753985" y="0"/>
                </a:lnTo>
                <a:lnTo>
                  <a:pt x="5753985" y="2967661"/>
                </a:lnTo>
                <a:lnTo>
                  <a:pt x="0" y="2967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005310" y="2503912"/>
            <a:ext cx="5753985" cy="3200853"/>
          </a:xfrm>
          <a:custGeom>
            <a:avLst/>
            <a:gdLst/>
            <a:ahLst/>
            <a:cxnLst/>
            <a:rect l="l" t="t" r="r" b="b"/>
            <a:pathLst>
              <a:path w="5753985" h="3200853">
                <a:moveTo>
                  <a:pt x="0" y="0"/>
                </a:moveTo>
                <a:lnTo>
                  <a:pt x="5753985" y="0"/>
                </a:lnTo>
                <a:lnTo>
                  <a:pt x="5753985" y="3200854"/>
                </a:lnTo>
                <a:lnTo>
                  <a:pt x="0" y="3200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94" t="-153" r="-560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248775"/>
            <a:ext cx="16230600" cy="61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Successfully demonstrated a fully functional end-to-end IoT loop. The hardware instantly registers requests with LED feedback, and the geofencing algorithm successfully prevents distant donors from seeing irrelevant requests through html based website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54201" y="415466"/>
            <a:ext cx="3188814" cy="1337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0"/>
              </a:lnSpc>
              <a:spcBef>
                <a:spcPct val="0"/>
              </a:spcBef>
            </a:pPr>
            <a:r>
              <a:rPr lang="en-US" sz="8885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483" y="0"/>
            <a:ext cx="18303483" cy="2082845"/>
          </a:xfrm>
          <a:custGeom>
            <a:avLst/>
            <a:gdLst/>
            <a:ahLst/>
            <a:cxnLst/>
            <a:rect l="l" t="t" r="r" b="b"/>
            <a:pathLst>
              <a:path w="18303483" h="2082845">
                <a:moveTo>
                  <a:pt x="0" y="0"/>
                </a:moveTo>
                <a:lnTo>
                  <a:pt x="18303483" y="0"/>
                </a:lnTo>
                <a:lnTo>
                  <a:pt x="18303483" y="2082845"/>
                </a:lnTo>
                <a:lnTo>
                  <a:pt x="0" y="2082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30482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06609" y="2719805"/>
          <a:ext cx="17259300" cy="7002407"/>
        </p:xfrm>
        <a:graphic>
          <a:graphicData uri="http://schemas.openxmlformats.org/drawingml/2006/table">
            <a:tbl>
              <a:tblPr/>
              <a:tblGrid>
                <a:gridCol w="1725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21641">
                <a:tc>
                  <a:txBody>
                    <a:bodyPr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1.Selvam et al. (2022) supports the project by demonstrating a low-cost system that uses an ESP32-CAM and GSM module to capture images and send mobile alerts.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218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2.Li et al. (2018) validates the cloud architecture by proving that a Firebase Realtime Database can successfully sync data instantly between IoT controllers and mobile apps.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9480">
                <a:tc>
                  <a:txBody>
                    <a:bodyPr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3.Singh et al. (2024) validates the application design by proposing a centralized digital platform that connects donors and recipients using location-based matching.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1641">
                <a:tc>
                  <a:txBody>
                    <a:bodyPr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4.Rice et al. (2011) justifies the hardware-first design of a physical button on a pole by proving that smartphone-only solutions exclude homeless individuals who lack technology access.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8427">
                <a:tc>
                  <a:txBody>
                    <a:bodyPr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5.Alahi et al. (2023) contextualizes the system within a smart city framework by showing how pole-mounted IoT networks can optimize urban social service delivery.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2877800" y="357375"/>
            <a:ext cx="4951179" cy="1358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0"/>
              </a:lnSpc>
              <a:spcBef>
                <a:spcPct val="0"/>
              </a:spcBef>
            </a:pPr>
            <a:r>
              <a:rPr lang="en-US" sz="8885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383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Canva Sans</vt:lpstr>
      <vt:lpstr>Canva Sans Bold</vt:lpstr>
      <vt:lpstr>Anton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Button. Real Help. Better Lives</dc:title>
  <dc:creator>KH Manya</dc:creator>
  <cp:lastModifiedBy>KH Manya</cp:lastModifiedBy>
  <cp:revision>3</cp:revision>
  <dcterms:created xsi:type="dcterms:W3CDTF">2006-08-16T00:00:00Z</dcterms:created>
  <dcterms:modified xsi:type="dcterms:W3CDTF">2026-06-17T00:22:49Z</dcterms:modified>
  <dc:identifier>DAHKry8biho</dc:identifier>
</cp:coreProperties>
</file>